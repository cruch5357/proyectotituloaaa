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 Light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Poppins Medium"/>
      <p:regular r:id="rId35"/>
      <p:bold r:id="rId36"/>
      <p:italic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  <p:embeddedFont>
      <p:font typeface="Inter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.fntdata"/><Relationship Id="rId20" Type="http://schemas.openxmlformats.org/officeDocument/2006/relationships/font" Target="fonts/InterSemiBold-bold.fntdata"/><Relationship Id="rId42" Type="http://schemas.openxmlformats.org/officeDocument/2006/relationships/font" Target="fonts/PoppinsSemiBold-boldItalic.fntdata"/><Relationship Id="rId41" Type="http://schemas.openxmlformats.org/officeDocument/2006/relationships/font" Target="fonts/PoppinsSemiBold-italic.fntdata"/><Relationship Id="rId22" Type="http://schemas.openxmlformats.org/officeDocument/2006/relationships/font" Target="fonts/InterSemiBold-boldItalic.fntdata"/><Relationship Id="rId44" Type="http://schemas.openxmlformats.org/officeDocument/2006/relationships/font" Target="fonts/InterMedium-bold.fntdata"/><Relationship Id="rId21" Type="http://schemas.openxmlformats.org/officeDocument/2006/relationships/font" Target="fonts/InterSemiBold-italic.fntdata"/><Relationship Id="rId43" Type="http://schemas.openxmlformats.org/officeDocument/2006/relationships/font" Target="fonts/InterMedium-regular.fntdata"/><Relationship Id="rId24" Type="http://schemas.openxmlformats.org/officeDocument/2006/relationships/font" Target="fonts/InterLight-bold.fntdata"/><Relationship Id="rId46" Type="http://schemas.openxmlformats.org/officeDocument/2006/relationships/font" Target="fonts/InterMedium-boldItalic.fntdata"/><Relationship Id="rId23" Type="http://schemas.openxmlformats.org/officeDocument/2006/relationships/font" Target="fonts/InterLight-regular.fntdata"/><Relationship Id="rId45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Light-boldItalic.fntdata"/><Relationship Id="rId25" Type="http://schemas.openxmlformats.org/officeDocument/2006/relationships/font" Target="fonts/InterLight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-italic.fntdata"/><Relationship Id="rId10" Type="http://schemas.openxmlformats.org/officeDocument/2006/relationships/slide" Target="slides/slide5.xml"/><Relationship Id="rId32" Type="http://schemas.openxmlformats.org/officeDocument/2006/relationships/font" Target="fonts/Poppins-bold.fntdata"/><Relationship Id="rId13" Type="http://schemas.openxmlformats.org/officeDocument/2006/relationships/slide" Target="slides/slide8.xml"/><Relationship Id="rId35" Type="http://schemas.openxmlformats.org/officeDocument/2006/relationships/font" Target="fonts/PoppinsMedium-regular.fntdata"/><Relationship Id="rId12" Type="http://schemas.openxmlformats.org/officeDocument/2006/relationships/slide" Target="slides/slide7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10.xml"/><Relationship Id="rId37" Type="http://schemas.openxmlformats.org/officeDocument/2006/relationships/font" Target="fonts/PoppinsMedium-italic.fntdata"/><Relationship Id="rId14" Type="http://schemas.openxmlformats.org/officeDocument/2006/relationships/slide" Target="slides/slide9.xml"/><Relationship Id="rId36" Type="http://schemas.openxmlformats.org/officeDocument/2006/relationships/font" Target="fonts/PoppinsMedium-bold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regular.fntdata"/><Relationship Id="rId16" Type="http://schemas.openxmlformats.org/officeDocument/2006/relationships/slide" Target="slides/slide11.xml"/><Relationship Id="rId38" Type="http://schemas.openxmlformats.org/officeDocument/2006/relationships/font" Target="fonts/PoppinsMedium-boldItalic.fntdata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ALONSO CRUZ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ALONSO CRUZ</a:t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ALONSO CRUZ</a:t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ALONSO CRUZ</a:t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Hasta aca ALONSO CRUZ</a:t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ANGEL RUBIO</a:t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ANGEL RUBIO</a:t>
            </a:r>
            <a:endParaRPr/>
          </a:p>
        </p:txBody>
      </p:sp>
      <p:sp>
        <p:nvSpPr>
          <p:cNvPr id="228" name="Google Shape;2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Hasta aca </a:t>
            </a:r>
            <a:r>
              <a:rPr lang="en-US">
                <a:solidFill>
                  <a:schemeClr val="dk1"/>
                </a:solidFill>
              </a:rPr>
              <a:t>ANGEL RUBIO</a:t>
            </a:r>
            <a:endParaRPr/>
          </a:p>
        </p:txBody>
      </p:sp>
      <p:sp>
        <p:nvSpPr>
          <p:cNvPr id="252" name="Google Shape;2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ALAN BASSO</a:t>
            </a:r>
            <a:endParaRPr/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ALAN BASSO</a:t>
            </a:r>
            <a:endParaRPr/>
          </a:p>
        </p:txBody>
      </p:sp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ALAN BASSO</a:t>
            </a:r>
            <a:endParaRPr/>
          </a:p>
        </p:txBody>
      </p:sp>
      <p:sp>
        <p:nvSpPr>
          <p:cNvPr id="314" name="Google Shape;3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ALAN BASSO</a:t>
            </a:r>
            <a:endParaRPr/>
          </a:p>
        </p:txBody>
      </p:sp>
      <p:sp>
        <p:nvSpPr>
          <p:cNvPr id="367" name="Google Shape;3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Hasta acá </a:t>
            </a:r>
            <a:r>
              <a:rPr lang="en-US">
                <a:solidFill>
                  <a:schemeClr val="dk1"/>
                </a:solidFill>
              </a:rPr>
              <a:t>ALAN BASSO</a:t>
            </a:r>
            <a:endParaRPr/>
          </a:p>
        </p:txBody>
      </p:sp>
      <p:sp>
        <p:nvSpPr>
          <p:cNvPr id="408" name="Google Shape;4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4.png"/><Relationship Id="rId13" Type="http://schemas.openxmlformats.org/officeDocument/2006/relationships/image" Target="../media/image16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15" Type="http://schemas.openxmlformats.org/officeDocument/2006/relationships/image" Target="../media/image18.png"/><Relationship Id="rId14" Type="http://schemas.openxmlformats.org/officeDocument/2006/relationships/image" Target="../media/image31.png"/><Relationship Id="rId17" Type="http://schemas.openxmlformats.org/officeDocument/2006/relationships/image" Target="../media/image25.png"/><Relationship Id="rId16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18" Type="http://schemas.openxmlformats.org/officeDocument/2006/relationships/image" Target="../media/image27.png"/><Relationship Id="rId7" Type="http://schemas.openxmlformats.org/officeDocument/2006/relationships/image" Target="../media/image19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54.png"/><Relationship Id="rId5" Type="http://schemas.openxmlformats.org/officeDocument/2006/relationships/image" Target="../media/image33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Relationship Id="rId5" Type="http://schemas.openxmlformats.org/officeDocument/2006/relationships/image" Target="../media/image32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38.png"/><Relationship Id="rId13" Type="http://schemas.openxmlformats.org/officeDocument/2006/relationships/image" Target="../media/image39.png"/><Relationship Id="rId1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36.png"/><Relationship Id="rId9" Type="http://schemas.openxmlformats.org/officeDocument/2006/relationships/image" Target="../media/image20.png"/><Relationship Id="rId15" Type="http://schemas.openxmlformats.org/officeDocument/2006/relationships/image" Target="../media/image34.png"/><Relationship Id="rId14" Type="http://schemas.openxmlformats.org/officeDocument/2006/relationships/image" Target="../media/image57.png"/><Relationship Id="rId16" Type="http://schemas.openxmlformats.org/officeDocument/2006/relationships/image" Target="../media/image45.png"/><Relationship Id="rId5" Type="http://schemas.openxmlformats.org/officeDocument/2006/relationships/image" Target="../media/image35.png"/><Relationship Id="rId6" Type="http://schemas.openxmlformats.org/officeDocument/2006/relationships/image" Target="../media/image47.png"/><Relationship Id="rId7" Type="http://schemas.openxmlformats.org/officeDocument/2006/relationships/image" Target="../media/image44.pn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Relationship Id="rId4" Type="http://schemas.openxmlformats.org/officeDocument/2006/relationships/image" Target="../media/image41.png"/><Relationship Id="rId5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5.png"/><Relationship Id="rId10" Type="http://schemas.openxmlformats.org/officeDocument/2006/relationships/image" Target="../media/image62.png"/><Relationship Id="rId13" Type="http://schemas.openxmlformats.org/officeDocument/2006/relationships/image" Target="../media/image53.png"/><Relationship Id="rId1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6.png"/><Relationship Id="rId4" Type="http://schemas.openxmlformats.org/officeDocument/2006/relationships/image" Target="../media/image43.png"/><Relationship Id="rId9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52.png"/><Relationship Id="rId7" Type="http://schemas.openxmlformats.org/officeDocument/2006/relationships/image" Target="../media/image46.png"/><Relationship Id="rId8" Type="http://schemas.openxmlformats.org/officeDocument/2006/relationships/image" Target="../media/image6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Relationship Id="rId9" Type="http://schemas.openxmlformats.org/officeDocument/2006/relationships/image" Target="../media/image58.png"/><Relationship Id="rId5" Type="http://schemas.openxmlformats.org/officeDocument/2006/relationships/image" Target="../media/image63.png"/><Relationship Id="rId6" Type="http://schemas.openxmlformats.org/officeDocument/2006/relationships/image" Target="../media/image55.png"/><Relationship Id="rId7" Type="http://schemas.openxmlformats.org/officeDocument/2006/relationships/image" Target="../media/image51.png"/><Relationship Id="rId8" Type="http://schemas.openxmlformats.org/officeDocument/2006/relationships/image" Target="../media/image6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2.png"/><Relationship Id="rId4" Type="http://schemas.openxmlformats.org/officeDocument/2006/relationships/image" Target="../media/image67.png"/><Relationship Id="rId5" Type="http://schemas.openxmlformats.org/officeDocument/2006/relationships/image" Target="../media/image70.png"/><Relationship Id="rId6" Type="http://schemas.openxmlformats.org/officeDocument/2006/relationships/image" Target="../media/image64.png"/><Relationship Id="rId7" Type="http://schemas.openxmlformats.org/officeDocument/2006/relationships/image" Target="../media/image6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809750" y="851048"/>
            <a:ext cx="857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PROYECTO CAPSTONE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595400" y="1264998"/>
            <a:ext cx="90012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Plataforma Web Progresiva para Gestión de Entrenamiento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959544"/>
            <a:ext cx="857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Ingeniería en Informática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452937" y="4655790"/>
            <a:ext cx="1552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Equipo de Trabajo: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452937" y="4930080"/>
            <a:ext cx="1552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Alonso Cruz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452937" y="5204370"/>
            <a:ext cx="1552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Alan Basso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452937" y="5478660"/>
            <a:ext cx="1552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Angel Rubio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596046" y="4655800"/>
            <a:ext cx="176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Fecha: 01/09/2026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596062" y="4930080"/>
            <a:ext cx="1352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Propuesta Inicial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32470"/>
            <a:ext cx="3492400" cy="3070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1432470"/>
            <a:ext cx="3492549" cy="30704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1432470"/>
            <a:ext cx="3492400" cy="307047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Equipo de Trabajo y Roles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72774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866775" y="2527845"/>
            <a:ext cx="136017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Alonso Cruz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2893525"/>
            <a:ext cx="204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Desarrollo e Integración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66775" y="3232546"/>
            <a:ext cx="29018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Especialista a cargo de la arquitectura frontend, desarrollo de la PWA, integración de servicios backend y despliegue de la plataforma responsiva.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4925" y="172774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4644925" y="2527845"/>
            <a:ext cx="128016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Alan Basso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44925" y="2893525"/>
            <a:ext cx="225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Ciencia de Datos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644925" y="3232546"/>
            <a:ext cx="290199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Especialista a cargo del análisis, procesamiento de datos recopilados, métricas y desarrollo del componente predictivo acotado.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225" y="172774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8423225" y="2527845"/>
            <a:ext cx="1380172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Angel Rubio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423225" y="2893525"/>
            <a:ext cx="250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Quality Assurance (QA)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423225" y="3232546"/>
            <a:ext cx="29018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Especialista a cargo del aseguramiento de calidad, pruebas funcionales, de integración, rendimiento y validación continua en distintos dispositivos.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/>
        </p:nvSpPr>
        <p:spPr>
          <a:xfrm>
            <a:off x="469900" y="2794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Presentación del Caso: Problemática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35000" y="1432475"/>
            <a:ext cx="5342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44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5"/>
          </a:p>
        </p:txBody>
      </p:sp>
      <p:sp>
        <p:nvSpPr>
          <p:cNvPr id="119" name="Google Shape;119;p15"/>
          <p:cNvSpPr txBox="1"/>
          <p:nvPr/>
        </p:nvSpPr>
        <p:spPr>
          <a:xfrm>
            <a:off x="533400" y="1457752"/>
            <a:ext cx="5782800" cy="9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Actualmente, los entrenadores administran sus programas utilizando múltiples herramientas desconectadas (Excel, mensajería, registros manuales).</a:t>
            </a:r>
            <a:endParaRPr sz="1545"/>
          </a:p>
        </p:txBody>
      </p:sp>
      <p:sp>
        <p:nvSpPr>
          <p:cNvPr id="120" name="Google Shape;120;p15"/>
          <p:cNvSpPr txBox="1"/>
          <p:nvPr/>
        </p:nvSpPr>
        <p:spPr>
          <a:xfrm>
            <a:off x="635000" y="3114598"/>
            <a:ext cx="57828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Consecuencias principales:</a:t>
            </a:r>
            <a:endParaRPr sz="1545"/>
          </a:p>
        </p:txBody>
      </p:sp>
      <p:sp>
        <p:nvSpPr>
          <p:cNvPr id="121" name="Google Shape;121;p15"/>
          <p:cNvSpPr txBox="1"/>
          <p:nvPr/>
        </p:nvSpPr>
        <p:spPr>
          <a:xfrm>
            <a:off x="971457" y="3575093"/>
            <a:ext cx="54465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Dificultad para escalar la gestión a múltiples alumnos.</a:t>
            </a:r>
            <a:endParaRPr sz="1545"/>
          </a:p>
        </p:txBody>
      </p:sp>
      <p:sp>
        <p:nvSpPr>
          <p:cNvPr id="122" name="Google Shape;122;p15"/>
          <p:cNvSpPr txBox="1"/>
          <p:nvPr/>
        </p:nvSpPr>
        <p:spPr>
          <a:xfrm>
            <a:off x="971457" y="4046100"/>
            <a:ext cx="54465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Desactualización de planificaciones.</a:t>
            </a:r>
            <a:endParaRPr sz="1545"/>
          </a:p>
        </p:txBody>
      </p:sp>
      <p:sp>
        <p:nvSpPr>
          <p:cNvPr id="123" name="Google Shape;123;p15"/>
          <p:cNvSpPr txBox="1"/>
          <p:nvPr/>
        </p:nvSpPr>
        <p:spPr>
          <a:xfrm>
            <a:off x="971457" y="4517107"/>
            <a:ext cx="54465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Pérdida de datos históricos de desempeño.</a:t>
            </a:r>
            <a:endParaRPr sz="1545"/>
          </a:p>
        </p:txBody>
      </p:sp>
      <p:sp>
        <p:nvSpPr>
          <p:cNvPr id="124" name="Google Shape;124;p15"/>
          <p:cNvSpPr txBox="1"/>
          <p:nvPr/>
        </p:nvSpPr>
        <p:spPr>
          <a:xfrm>
            <a:off x="971457" y="4988115"/>
            <a:ext cx="5446500" cy="9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Complejidad para el alumno al no tener un espacio centralizado para registrar resultados y visualizar su progreso.</a:t>
            </a:r>
            <a:endParaRPr sz="1545"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000" y="3596121"/>
            <a:ext cx="126171" cy="22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000" y="4067129"/>
            <a:ext cx="126171" cy="22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000" y="4538136"/>
            <a:ext cx="126171" cy="22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000" y="5009143"/>
            <a:ext cx="126171" cy="22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0550" y="1355450"/>
            <a:ext cx="4299151" cy="517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8567625" y="1051475"/>
            <a:ext cx="31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 Imagen Referencial**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0725" y="2731591"/>
            <a:ext cx="20955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0466" y="2636350"/>
            <a:ext cx="2351071" cy="82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13475" y="2774463"/>
            <a:ext cx="2463132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0725" y="4060341"/>
            <a:ext cx="20955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8250" y="3969841"/>
            <a:ext cx="20955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77225" y="3965079"/>
            <a:ext cx="209550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Propuesta de Solución: PWA Centralizada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809750" y="1432470"/>
            <a:ext cx="8572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Desarrollar una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ÚNICA Plataforma Web Progresiva (PWA) responsiva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El entrenador gestiona desde el computador (incluyendo importación de Excel) y el alumno ejecuta desde su dispositivo móvil, compartiendo el mismo núcleo de datos.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67225" y="297924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0" y="297924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95800" y="3550741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24750" y="3550741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67225" y="431274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24750" y="431274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163475" y="2932216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2405097" y="3207850"/>
            <a:ext cx="1364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(Vía Interfaz o Excel)</a:t>
            </a:r>
            <a:endParaRPr/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260175" y="2966829"/>
            <a:ext cx="15240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227475" y="3036391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173012" y="425557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2379900" y="4490475"/>
            <a:ext cx="14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(Ajusta planificación)</a:t>
            </a:r>
            <a:endParaRPr/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294475" y="4135016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5467350" y="4608016"/>
            <a:ext cx="125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(Métricas y Predicción)</a:t>
            </a:r>
            <a:endParaRPr/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507650" y="416034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8509073" y="4408000"/>
            <a:ext cx="1831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(Cargas, RPE, Cumplimiento)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07021"/>
            <a:ext cx="4972050" cy="490492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1500" y="54605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del Proyecto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52500" y="2318295"/>
            <a:ext cx="442055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 General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952500" y="2828776"/>
            <a:ext cx="421005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"Desarrollar una plataforma web progresiva (PWA) responsiva que permita a entrenadores planificar y gestionar programas de entrenamiento personalizados, mientras los alumnos puedan consultar, ejecutar y registrar sus sesiones, centralizando los datos para generar métricas y una funcionalidad predictiva que apoye la toma de decisiones del entrenador."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924550" y="1407021"/>
            <a:ext cx="626745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Principales Objetivos Específicos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229350" y="1801266"/>
            <a:ext cx="57721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Definir requerimientos funcionales/no funcionales de entrenadores y alumnos.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229350" y="2502247"/>
            <a:ext cx="57721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Diseñar estructura de datos escalable (usuarios, rutinas, sesiones, registros).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229350" y="3203227"/>
            <a:ext cx="57721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Desarrollar PWA responsiva con vistas diferenciadas (Desktop/Mobile).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229350" y="3904208"/>
            <a:ext cx="5772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Implementar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importación y validación de planificaciones vía Excel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229350" y="4330898"/>
            <a:ext cx="5772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Implementar registro de desempeño (cargas, reps, RIR/RPE).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229350" y="4757588"/>
            <a:ext cx="5772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Desarrollar métricas para visualizar evolución del alumno.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229350" y="5184278"/>
            <a:ext cx="57721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Implementar funcionalidad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predictiva de alcance acotado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(apoyo a decisiones).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229350" y="5885259"/>
            <a:ext cx="5772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Aplicar proceso QA continuo (pruebas funcionales, integración, UI).</a:t>
            </a:r>
            <a:endParaRPr/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4550" y="182031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4550" y="252129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4550" y="322227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4550" y="392325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4550" y="434994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4550" y="477663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4550" y="520332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4550" y="5904309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77417"/>
            <a:ext cx="3314700" cy="3293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8650" y="2540347"/>
            <a:ext cx="3314700" cy="3567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5800" y="2540347"/>
            <a:ext cx="3314700" cy="356785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571500" y="368796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 de Trabajo (18 Semanas)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571500" y="1229766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desarrollo del proyecto está estructurado en 3 fases secuenciales, aplicando un enfoque ágil iterativo para asegurar entregas funcionales.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748665" y="2925067"/>
            <a:ext cx="29603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 1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19150" y="3229867"/>
            <a:ext cx="2819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S1 a S4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19150" y="3677542"/>
            <a:ext cx="2819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Inicio, análisis y planificación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4615815" y="2787997"/>
            <a:ext cx="29603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 2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4686300" y="3092797"/>
            <a:ext cx="2819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S5 a S15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4686300" y="3540472"/>
            <a:ext cx="2819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Desarrollo mediante Sprints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8482965" y="2787997"/>
            <a:ext cx="29603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 3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8553450" y="3092797"/>
            <a:ext cx="2819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S16 a S18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8553450" y="3540472"/>
            <a:ext cx="2819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Cierre y evaluación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1123950" y="4016573"/>
            <a:ext cx="2514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Definición de requerimientos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1123950" y="4443263"/>
            <a:ext cx="2514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User Story Mapping &amp; Épicas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1123950" y="4869953"/>
            <a:ext cx="2514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Diseño inicial de arquitectura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1123950" y="5296644"/>
            <a:ext cx="2514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Modelo de datos conceptual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4991100" y="3879502"/>
            <a:ext cx="2514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Desarrollo de roles y vistas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4991100" y="4306192"/>
            <a:ext cx="2514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Importación Excel y Rutinas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4991100" y="4732883"/>
            <a:ext cx="2514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Registro de entrenamientos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4991100" y="5159573"/>
            <a:ext cx="2514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Métricas, predicción acotada y QA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8858250" y="3879502"/>
            <a:ext cx="2514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Integración de componentes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8858250" y="4306192"/>
            <a:ext cx="2514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Pruebas finales y depuración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8858250" y="4732883"/>
            <a:ext cx="2514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Evaluación de requerimientos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8858250" y="5159573"/>
            <a:ext cx="2514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Documentación y retrospectiva</a:t>
            </a:r>
            <a:endParaRPr/>
          </a:p>
        </p:txBody>
      </p:sp>
      <p:pic>
        <p:nvPicPr>
          <p:cNvPr descr="image.png" id="214" name="Google Shape;21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403562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446231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488900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5315694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389855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432524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475193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517862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53450" y="389855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53450" y="432524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53450" y="475193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53450" y="5178623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451645"/>
            <a:ext cx="5238750" cy="291063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 de Trabajo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6381750" y="1432470"/>
            <a:ext cx="55006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Flujo y Artefactos del Sprint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6381750" y="1803945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Cada Sprint contempla una estructura formal para asegurar la calidad técnica (QA continuo):</a:t>
            </a:r>
            <a:endParaRPr/>
          </a:p>
        </p:txBody>
      </p:sp>
      <p:pic>
        <p:nvPicPr>
          <p:cNvPr descr="image.png" id="234" name="Google Shape;23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75" y="204861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3947814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 txBox="1"/>
          <p:nvPr/>
        </p:nvSpPr>
        <p:spPr>
          <a:xfrm>
            <a:off x="1438275" y="1727745"/>
            <a:ext cx="428053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SCRUM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1438275" y="2002035"/>
            <a:ext cx="40767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Marco de Trabajo Ágil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1438275" y="2293441"/>
            <a:ext cx="407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Trabajo iterativo e incremental organizado mediante Sprints, permitiendo adaptabilidad y validación continua.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1428750" y="3626941"/>
            <a:ext cx="4290536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JIRA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1428750" y="3901231"/>
            <a:ext cx="40862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Herramienta de Gestión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1428750" y="4192637"/>
            <a:ext cx="40862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Administración del Product Backlog, Scrumboard, asignación de tareas y seguimiento del progreso del equipo.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6915150" y="2642145"/>
            <a:ext cx="4514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Eventos: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Planning, Daily, Review, Retrospective.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6915150" y="3068835"/>
            <a:ext cx="4514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Gestión: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Sprint Backlog, Burndown Chart, Impediment Log.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6915150" y="3769816"/>
            <a:ext cx="4514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Ingeniería (Fase 1):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Visión, Épicas, User Story Mapping, Impact Mapping.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6915150" y="4470796"/>
            <a:ext cx="4514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Técnicos: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Modelo Relacional, Diagrama Arquitectura, Casos de Prueba.</a:t>
            </a:r>
            <a:endParaRPr/>
          </a:p>
        </p:txBody>
      </p:sp>
      <p:pic>
        <p:nvPicPr>
          <p:cNvPr descr="image.png" id="246" name="Google Shape;24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0350" y="266119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0350" y="308788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0350" y="378886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0350" y="4489846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32470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37295"/>
            <a:ext cx="2619375" cy="2316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1937295"/>
            <a:ext cx="2619375" cy="2316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1937295"/>
            <a:ext cx="2619375" cy="2316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1125" y="1937295"/>
            <a:ext cx="2619375" cy="231606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Stack Tecnológico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571500" y="4516075"/>
            <a:ext cx="11049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Gestión &amp; Diseño:</a:t>
            </a:r>
            <a:r>
              <a:rPr b="0" i="0" lang="en-US" sz="12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Git, GitHub, Jira</a:t>
            </a:r>
            <a:r>
              <a:rPr lang="en-US" sz="12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/>
          </a:p>
        </p:txBody>
      </p:sp>
      <p:pic>
        <p:nvPicPr>
          <p:cNvPr descr="image.png" id="261" name="Google Shape;26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25" y="1527733"/>
            <a:ext cx="138112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21373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0"/>
          <p:cNvSpPr txBox="1"/>
          <p:nvPr/>
        </p:nvSpPr>
        <p:spPr>
          <a:xfrm>
            <a:off x="771525" y="2851695"/>
            <a:ext cx="144018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Frontend / PWA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771525" y="3105001"/>
            <a:ext cx="1295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React</a:t>
            </a:r>
            <a:r>
              <a:rPr b="0" i="0" lang="en-US" sz="10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, TypeScript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771525" y="3413521"/>
            <a:ext cx="22193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Aplicación web estructurada y escalable. PWA (Service Workers) para vista nativa en móviles.</a:t>
            </a:r>
            <a:endParaRPr/>
          </a:p>
        </p:txBody>
      </p:sp>
      <p:pic>
        <p:nvPicPr>
          <p:cNvPr descr="image.png" id="266" name="Google Shape;26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81400" y="21373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 txBox="1"/>
          <p:nvPr/>
        </p:nvSpPr>
        <p:spPr>
          <a:xfrm>
            <a:off x="3581400" y="2851695"/>
            <a:ext cx="810101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Backend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3581400" y="3105001"/>
            <a:ext cx="1047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6A3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Node.js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3581400" y="3413521"/>
            <a:ext cx="22193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Arquitectura API RESTful robusta, separando lógica de negocio y permitiendo escalabilidad.</a:t>
            </a:r>
            <a:endParaRPr/>
          </a:p>
        </p:txBody>
      </p:sp>
      <p:pic>
        <p:nvPicPr>
          <p:cNvPr descr="image.png" id="270" name="Google Shape;270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91275" y="21373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0"/>
          <p:cNvSpPr txBox="1"/>
          <p:nvPr/>
        </p:nvSpPr>
        <p:spPr>
          <a:xfrm>
            <a:off x="6391275" y="2851695"/>
            <a:ext cx="1330166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Base de Datos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6391275" y="3105001"/>
            <a:ext cx="781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679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PostgreSQL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6391275" y="3318271"/>
            <a:ext cx="22194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Motor relacional óptimo para la complejidad de entidades (usuarios, rutinas, series, métricas).</a:t>
            </a:r>
            <a:endParaRPr/>
          </a:p>
        </p:txBody>
      </p:sp>
      <p:pic>
        <p:nvPicPr>
          <p:cNvPr descr="image.png" id="274" name="Google Shape;27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01150" y="213732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0"/>
          <p:cNvSpPr txBox="1"/>
          <p:nvPr/>
        </p:nvSpPr>
        <p:spPr>
          <a:xfrm>
            <a:off x="9201150" y="2851695"/>
            <a:ext cx="1590198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Ciencia de Datos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9201150" y="3105001"/>
            <a:ext cx="14670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A8A0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Python, Pandas</a:t>
            </a:r>
            <a:r>
              <a:rPr b="0" i="0" lang="en-US" sz="1050" u="none" cap="none" strike="noStrike">
                <a:solidFill>
                  <a:srgbClr val="CA8A0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, Scikit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9201150" y="3413521"/>
            <a:ext cx="22193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Análisis de datos, procesamiento y generación de modelo predictivo acotado.</a:t>
            </a:r>
            <a:endParaRPr/>
          </a:p>
        </p:txBody>
      </p:sp>
      <p:pic>
        <p:nvPicPr>
          <p:cNvPr descr="image.png" id="278" name="Google Shape;278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8212" y="228972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748087" y="228972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57962" y="228972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367837" y="2289720"/>
            <a:ext cx="2381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25" y="580020"/>
            <a:ext cx="4338637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571500" y="95225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 Relacional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504825" y="965750"/>
            <a:ext cx="77448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esquema de base de datos se encuentra en fase conceptual. Aún no se han definido claves primarias/foráneas ni cardinalidades exactas.</a:t>
            </a:r>
            <a:endParaRPr/>
          </a:p>
        </p:txBody>
      </p:sp>
      <p:pic>
        <p:nvPicPr>
          <p:cNvPr descr="image.png" id="289" name="Google Shape;2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70521"/>
            <a:ext cx="138112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1" title="modelo_relacional_apt.png"/>
          <p:cNvPicPr preferRelativeResize="0"/>
          <p:nvPr/>
        </p:nvPicPr>
        <p:blipFill rotWithShape="1">
          <a:blip r:embed="rId5">
            <a:alphaModFix/>
          </a:blip>
          <a:srcRect b="0" l="0" r="0" t="5446"/>
          <a:stretch/>
        </p:blipFill>
        <p:spPr>
          <a:xfrm>
            <a:off x="151538" y="2011700"/>
            <a:ext cx="11888927" cy="455055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 txBox="1"/>
          <p:nvPr/>
        </p:nvSpPr>
        <p:spPr>
          <a:xfrm>
            <a:off x="504825" y="1644650"/>
            <a:ext cx="8058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estructura debe soportar la importación dinámica desde Excel y la jerarquía compleja del entrenamiento deportivo.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37295"/>
            <a:ext cx="1104900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1550" y="2282495"/>
            <a:ext cx="2828925" cy="5596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1000" y="3223170"/>
            <a:ext cx="38100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1575" y="4309020"/>
            <a:ext cx="22288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3000" y="5204370"/>
            <a:ext cx="2286000" cy="55632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2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Arquitectura Conceptual</a:t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6086625" y="2832937"/>
            <a:ext cx="19200" cy="39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6086475" y="3928020"/>
            <a:ext cx="19050" cy="381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6086475" y="4823370"/>
            <a:ext cx="19050" cy="381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5" name="Google Shape;30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36212" y="248614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57800" y="339939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2"/>
          <p:cNvSpPr txBox="1"/>
          <p:nvPr/>
        </p:nvSpPr>
        <p:spPr>
          <a:xfrm>
            <a:off x="4725025" y="3655488"/>
            <a:ext cx="28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Renderizado adaptativo según rol/dispositivo</a:t>
            </a:r>
            <a:endParaRPr/>
          </a:p>
        </p:txBody>
      </p:sp>
      <p:pic>
        <p:nvPicPr>
          <p:cNvPr descr="image.png" id="308" name="Google Shape;308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24450" y="448999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58500" y="538534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39175" y="538534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09625" y="5296120"/>
            <a:ext cx="1333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6" name="Google Shape;3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605925"/>
            <a:ext cx="11200200" cy="470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84970"/>
            <a:ext cx="3810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8263" y="2303245"/>
            <a:ext cx="1905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0" y="2384970"/>
            <a:ext cx="38100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394495"/>
            <a:ext cx="3790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05413" y="2360395"/>
            <a:ext cx="17907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9525" y="2394495"/>
            <a:ext cx="3790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48288" y="3360520"/>
            <a:ext cx="1504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48288" y="3741520"/>
            <a:ext cx="1504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48288" y="4122520"/>
            <a:ext cx="1504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3651795"/>
            <a:ext cx="35052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3985170"/>
            <a:ext cx="350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3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Mockups Conceptuales (Primer Acercamiento)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666750" y="1923959"/>
            <a:ext cx="400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Dashboard Coach (PC)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4800450" y="1827838"/>
            <a:ext cx="272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highlight>
                  <a:srgbClr val="F8FAFC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2. </a:t>
            </a:r>
            <a:r>
              <a:rPr lang="en-US" sz="1200">
                <a:solidFill>
                  <a:srgbClr val="666666"/>
                </a:solidFill>
                <a:highlight>
                  <a:srgbClr val="F8FAFC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Entrenamiento</a:t>
            </a:r>
            <a:r>
              <a:rPr b="0" i="0" lang="en-US" sz="1200" u="none" cap="none" strike="noStrike">
                <a:solidFill>
                  <a:srgbClr val="666666"/>
                </a:solidFill>
                <a:highlight>
                  <a:srgbClr val="F8FAFC"/>
                </a:highlight>
                <a:latin typeface="Poppins SemiBold"/>
                <a:ea typeface="Poppins SemiBold"/>
                <a:cs typeface="Poppins SemiBold"/>
                <a:sym typeface="Poppins SemiBold"/>
              </a:rPr>
              <a:t> Alumno (Móvil)</a:t>
            </a:r>
            <a:endParaRPr>
              <a:solidFill>
                <a:srgbClr val="666666"/>
              </a:solidFill>
              <a:highlight>
                <a:srgbClr val="F8FAFC"/>
              </a:highlight>
            </a:endParaRPr>
          </a:p>
        </p:txBody>
      </p:sp>
      <p:sp>
        <p:nvSpPr>
          <p:cNvPr id="331" name="Google Shape;331;p23"/>
          <p:cNvSpPr txBox="1"/>
          <p:nvPr/>
        </p:nvSpPr>
        <p:spPr>
          <a:xfrm>
            <a:off x="7524750" y="2106959"/>
            <a:ext cx="400050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Planificación (PC)</a:t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866775" y="2499270"/>
            <a:ext cx="76200" cy="7620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990600" y="2499270"/>
            <a:ext cx="76200" cy="7620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914400" y="2823120"/>
            <a:ext cx="2103090" cy="114300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5860703" y="2446120"/>
            <a:ext cx="480000" cy="114300"/>
          </a:xfrm>
          <a:prstGeom prst="roundRect">
            <a:avLst>
              <a:gd fmla="val 33333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5348288" y="2789020"/>
            <a:ext cx="1203900" cy="114300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5348288" y="3046195"/>
            <a:ext cx="601800" cy="762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5348288" y="5436970"/>
            <a:ext cx="1505100" cy="228600"/>
          </a:xfrm>
          <a:prstGeom prst="roundRect">
            <a:avLst>
              <a:gd fmla="val 16666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7724775" y="2499270"/>
            <a:ext cx="76200" cy="7620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7848600" y="2499270"/>
            <a:ext cx="76200" cy="7620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914400" y="3080295"/>
            <a:ext cx="1704975" cy="381000"/>
          </a:xfrm>
          <a:prstGeom prst="roundRect">
            <a:avLst>
              <a:gd fmla="val 1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2714625" y="3080295"/>
            <a:ext cx="1704975" cy="381000"/>
          </a:xfrm>
          <a:prstGeom prst="roundRect">
            <a:avLst>
              <a:gd fmla="val 1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5453063" y="3446245"/>
            <a:ext cx="777300" cy="114300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6634163" y="3446245"/>
            <a:ext cx="114300" cy="114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5453063" y="3827245"/>
            <a:ext cx="647700" cy="114300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6634163" y="3827245"/>
            <a:ext cx="114300" cy="114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5453063" y="4208245"/>
            <a:ext cx="906600" cy="114300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6634163" y="4208245"/>
            <a:ext cx="114300" cy="114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7772400" y="2861220"/>
            <a:ext cx="1401960" cy="114300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10896600" y="2823120"/>
            <a:ext cx="381000" cy="190500"/>
          </a:xfrm>
          <a:prstGeom prst="roundRect">
            <a:avLst>
              <a:gd fmla="val 2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7772400" y="3204120"/>
            <a:ext cx="840581" cy="142875"/>
          </a:xfrm>
          <a:prstGeom prst="roundRect">
            <a:avLst>
              <a:gd fmla="val 13333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8660606" y="3204120"/>
            <a:ext cx="840581" cy="142875"/>
          </a:xfrm>
          <a:prstGeom prst="roundRect">
            <a:avLst>
              <a:gd fmla="val 13333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9548812" y="3204120"/>
            <a:ext cx="840581" cy="142875"/>
          </a:xfrm>
          <a:prstGeom prst="roundRect">
            <a:avLst>
              <a:gd fmla="val 13333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10437018" y="3204120"/>
            <a:ext cx="840581" cy="142875"/>
          </a:xfrm>
          <a:prstGeom prst="roundRect">
            <a:avLst>
              <a:gd fmla="val 13333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7772400" y="3394620"/>
            <a:ext cx="840581" cy="142875"/>
          </a:xfrm>
          <a:prstGeom prst="roundRect">
            <a:avLst>
              <a:gd fmla="val 1333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8660606" y="3394620"/>
            <a:ext cx="840581" cy="142875"/>
          </a:xfrm>
          <a:prstGeom prst="roundRect">
            <a:avLst>
              <a:gd fmla="val 1333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9548812" y="3394620"/>
            <a:ext cx="840581" cy="142875"/>
          </a:xfrm>
          <a:prstGeom prst="roundRect">
            <a:avLst>
              <a:gd fmla="val 1333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10437018" y="3394620"/>
            <a:ext cx="840581" cy="142875"/>
          </a:xfrm>
          <a:prstGeom prst="roundRect">
            <a:avLst>
              <a:gd fmla="val 1333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7772400" y="3585120"/>
            <a:ext cx="840581" cy="142875"/>
          </a:xfrm>
          <a:prstGeom prst="roundRect">
            <a:avLst>
              <a:gd fmla="val 1333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8660606" y="3585120"/>
            <a:ext cx="840581" cy="142875"/>
          </a:xfrm>
          <a:prstGeom prst="roundRect">
            <a:avLst>
              <a:gd fmla="val 1333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9548812" y="3585120"/>
            <a:ext cx="840581" cy="142875"/>
          </a:xfrm>
          <a:prstGeom prst="roundRect">
            <a:avLst>
              <a:gd fmla="val 1333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10437018" y="3585120"/>
            <a:ext cx="840581" cy="142875"/>
          </a:xfrm>
          <a:prstGeom prst="roundRect">
            <a:avLst>
              <a:gd fmla="val 1333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1019175" y="3737520"/>
            <a:ext cx="1318170" cy="114300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1019175" y="4070895"/>
            <a:ext cx="1647825" cy="114300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9" name="Google Shape;3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32470"/>
            <a:ext cx="5334000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1432470"/>
            <a:ext cx="5334000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1551"/>
            <a:ext cx="5334000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71551"/>
            <a:ext cx="5334000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10631"/>
            <a:ext cx="5334000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910631"/>
            <a:ext cx="5334000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49712"/>
            <a:ext cx="5334000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3649712"/>
            <a:ext cx="5334000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88792"/>
            <a:ext cx="5334000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388792"/>
            <a:ext cx="5334000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27873"/>
            <a:ext cx="5334000" cy="548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5127873"/>
            <a:ext cx="5334000" cy="54858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4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Próximos Pasos (Priorizados)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762000" y="1584875"/>
            <a:ext cx="29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1143000" y="1584875"/>
            <a:ext cx="279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Finalizar análisis de requerimientos.</a:t>
            </a:r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6477000" y="1584870"/>
            <a:ext cx="276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/>
          </a:p>
        </p:txBody>
      </p:sp>
      <p:sp>
        <p:nvSpPr>
          <p:cNvPr id="385" name="Google Shape;385;p24"/>
          <p:cNvSpPr txBox="1"/>
          <p:nvPr/>
        </p:nvSpPr>
        <p:spPr>
          <a:xfrm>
            <a:off x="6905625" y="1584870"/>
            <a:ext cx="3076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Diseñar los mockups definitivos en Figma.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762000" y="2323950"/>
            <a:ext cx="29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1190625" y="2323950"/>
            <a:ext cx="307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Completar y estimar historias de usuario.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6477000" y="2323950"/>
            <a:ext cx="38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6915150" y="2323950"/>
            <a:ext cx="371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Definir la estructura del archivo Excel a importar.</a:t>
            </a:r>
            <a:endParaRPr/>
          </a:p>
        </p:txBody>
      </p:sp>
      <p:sp>
        <p:nvSpPr>
          <p:cNvPr id="390" name="Google Shape;390;p24"/>
          <p:cNvSpPr txBox="1"/>
          <p:nvPr/>
        </p:nvSpPr>
        <p:spPr>
          <a:xfrm>
            <a:off x="762000" y="3063025"/>
            <a:ext cx="29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1190625" y="3063025"/>
            <a:ext cx="229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Priorizar el alcance del MVP.</a:t>
            </a:r>
            <a:endParaRPr/>
          </a:p>
        </p:txBody>
      </p:sp>
      <p:sp>
        <p:nvSpPr>
          <p:cNvPr id="392" name="Google Shape;392;p24"/>
          <p:cNvSpPr txBox="1"/>
          <p:nvPr/>
        </p:nvSpPr>
        <p:spPr>
          <a:xfrm>
            <a:off x="6477000" y="3063025"/>
            <a:ext cx="38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6905625" y="3063025"/>
            <a:ext cx="359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Preparar dataset inicial/sintético para el análisis.</a:t>
            </a:r>
            <a:endParaRPr/>
          </a:p>
        </p:txBody>
      </p:sp>
      <p:sp>
        <p:nvSpPr>
          <p:cNvPr id="394" name="Google Shape;394;p24"/>
          <p:cNvSpPr txBox="1"/>
          <p:nvPr/>
        </p:nvSpPr>
        <p:spPr>
          <a:xfrm>
            <a:off x="762000" y="3802100"/>
            <a:ext cx="38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  <p:sp>
        <p:nvSpPr>
          <p:cNvPr id="395" name="Google Shape;395;p24"/>
          <p:cNvSpPr txBox="1"/>
          <p:nvPr/>
        </p:nvSpPr>
        <p:spPr>
          <a:xfrm>
            <a:off x="1209675" y="3802100"/>
            <a:ext cx="307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Definir y normalizar el modelo relacional.</a:t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6477000" y="3802100"/>
            <a:ext cx="29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/>
          </a:p>
        </p:txBody>
      </p:sp>
      <p:sp>
        <p:nvSpPr>
          <p:cNvPr id="397" name="Google Shape;397;p24"/>
          <p:cNvSpPr txBox="1"/>
          <p:nvPr/>
        </p:nvSpPr>
        <p:spPr>
          <a:xfrm>
            <a:off x="6858000" y="3802100"/>
            <a:ext cx="344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Crear y configurar el Product Backlog en Jira.</a:t>
            </a:r>
            <a:endParaRPr/>
          </a:p>
        </p:txBody>
      </p:sp>
      <p:sp>
        <p:nvSpPr>
          <p:cNvPr id="398" name="Google Shape;398;p24"/>
          <p:cNvSpPr txBox="1"/>
          <p:nvPr/>
        </p:nvSpPr>
        <p:spPr>
          <a:xfrm>
            <a:off x="762000" y="4541200"/>
            <a:ext cx="38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/>
          </a:p>
        </p:txBody>
      </p:sp>
      <p:sp>
        <p:nvSpPr>
          <p:cNvPr id="399" name="Google Shape;399;p24"/>
          <p:cNvSpPr txBox="1"/>
          <p:nvPr/>
        </p:nvSpPr>
        <p:spPr>
          <a:xfrm>
            <a:off x="1200150" y="4541200"/>
            <a:ext cx="307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Definir la arquitectura técnica detallada.</a:t>
            </a:r>
            <a:endParaRPr/>
          </a:p>
        </p:txBody>
      </p:sp>
      <p:sp>
        <p:nvSpPr>
          <p:cNvPr id="400" name="Google Shape;400;p24"/>
          <p:cNvSpPr txBox="1"/>
          <p:nvPr/>
        </p:nvSpPr>
        <p:spPr>
          <a:xfrm>
            <a:off x="6477000" y="4541200"/>
            <a:ext cx="276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/>
          </a:p>
        </p:txBody>
      </p:sp>
      <p:sp>
        <p:nvSpPr>
          <p:cNvPr id="401" name="Google Shape;401;p24"/>
          <p:cNvSpPr txBox="1"/>
          <p:nvPr/>
        </p:nvSpPr>
        <p:spPr>
          <a:xfrm>
            <a:off x="6800850" y="4541200"/>
            <a:ext cx="234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Iniciar formalmente el Sprint 1.</a:t>
            </a:r>
            <a:endParaRPr/>
          </a:p>
        </p:txBody>
      </p:sp>
      <p:sp>
        <p:nvSpPr>
          <p:cNvPr id="402" name="Google Shape;402;p24"/>
          <p:cNvSpPr txBox="1"/>
          <p:nvPr/>
        </p:nvSpPr>
        <p:spPr>
          <a:xfrm>
            <a:off x="762000" y="5280275"/>
            <a:ext cx="38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/>
          </a:p>
        </p:txBody>
      </p:sp>
      <p:sp>
        <p:nvSpPr>
          <p:cNvPr id="403" name="Google Shape;403;p24"/>
          <p:cNvSpPr txBox="1"/>
          <p:nvPr/>
        </p:nvSpPr>
        <p:spPr>
          <a:xfrm>
            <a:off x="1200150" y="5280275"/>
            <a:ext cx="337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Confirmar oficialmente el stack tecnológico.</a:t>
            </a:r>
            <a:endParaRPr/>
          </a:p>
        </p:txBody>
      </p:sp>
      <p:sp>
        <p:nvSpPr>
          <p:cNvPr id="404" name="Google Shape;404;p24"/>
          <p:cNvSpPr txBox="1"/>
          <p:nvPr/>
        </p:nvSpPr>
        <p:spPr>
          <a:xfrm>
            <a:off x="6477000" y="5280273"/>
            <a:ext cx="219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endParaRPr/>
          </a:p>
        </p:txBody>
      </p:sp>
      <p:sp>
        <p:nvSpPr>
          <p:cNvPr id="405" name="Google Shape;405;p24"/>
          <p:cNvSpPr txBox="1"/>
          <p:nvPr/>
        </p:nvSpPr>
        <p:spPr>
          <a:xfrm>
            <a:off x="6848475" y="5280275"/>
            <a:ext cx="307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Comenzar el desarrollo iterativo del MVP.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0" name="Google Shape;41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335660"/>
            <a:ext cx="11049000" cy="223257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5"/>
          <p:cNvSpPr txBox="1"/>
          <p:nvPr/>
        </p:nvSpPr>
        <p:spPr>
          <a:xfrm>
            <a:off x="571500" y="289768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Conclusiones y Viabilidad</a:t>
            </a:r>
            <a:endParaRPr/>
          </a:p>
        </p:txBody>
      </p:sp>
      <p:sp>
        <p:nvSpPr>
          <p:cNvPr id="412" name="Google Shape;412;p25"/>
          <p:cNvSpPr txBox="1"/>
          <p:nvPr/>
        </p:nvSpPr>
        <p:spPr>
          <a:xfrm>
            <a:off x="2114550" y="1150739"/>
            <a:ext cx="8267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Existe una problemática concreta de fragmentación en la gestión del entrenamiento que la plataforma resuelve centralizando los procesos.</a:t>
            </a:r>
            <a:endParaRPr/>
          </a:p>
        </p:txBody>
      </p:sp>
      <p:sp>
        <p:nvSpPr>
          <p:cNvPr id="413" name="Google Shape;413;p25"/>
          <p:cNvSpPr txBox="1"/>
          <p:nvPr/>
        </p:nvSpPr>
        <p:spPr>
          <a:xfrm>
            <a:off x="2114550" y="1851719"/>
            <a:ext cx="8267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uso de tecnología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PWA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optimiza recursos, evitando desarrollar apps nativas independientes y asegurando alcance multiplataforma.</a:t>
            </a:r>
            <a:endParaRPr/>
          </a:p>
        </p:txBody>
      </p:sp>
      <p:sp>
        <p:nvSpPr>
          <p:cNvPr id="414" name="Google Shape;414;p25"/>
          <p:cNvSpPr txBox="1"/>
          <p:nvPr/>
        </p:nvSpPr>
        <p:spPr>
          <a:xfrm>
            <a:off x="2114550" y="2552700"/>
            <a:ext cx="8267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importación de planificaciones vía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Excel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el uso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acotado de Ciencia de Datos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otorgan un valor diferenciador sin sobrepasar el alcance viable de 18 semanas.</a:t>
            </a:r>
            <a:endParaRPr/>
          </a:p>
        </p:txBody>
      </p:sp>
      <p:sp>
        <p:nvSpPr>
          <p:cNvPr id="415" name="Google Shape;415;p25"/>
          <p:cNvSpPr txBox="1"/>
          <p:nvPr/>
        </p:nvSpPr>
        <p:spPr>
          <a:xfrm>
            <a:off x="2114550" y="3253680"/>
            <a:ext cx="8267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metodología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Scrum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la inclusión constante de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garantizan el orden técnico y la mitigación de errores tempranos, permitiendo despejar prontamente las definiciones arquitectónicas pendientes.</a:t>
            </a:r>
            <a:endParaRPr/>
          </a:p>
        </p:txBody>
      </p:sp>
      <p:sp>
        <p:nvSpPr>
          <p:cNvPr id="416" name="Google Shape;416;p25"/>
          <p:cNvSpPr txBox="1"/>
          <p:nvPr/>
        </p:nvSpPr>
        <p:spPr>
          <a:xfrm>
            <a:off x="1047750" y="4811910"/>
            <a:ext cx="1009650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"El objetivo es construir una plataforma donde </a:t>
            </a:r>
            <a:r>
              <a:rPr b="0" i="0" lang="en-US" sz="2400" u="none" cap="none" strike="noStrike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entrenador planifica</a:t>
            </a:r>
            <a:r>
              <a:rPr b="0" i="0" lang="en-US" sz="24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, </a:t>
            </a:r>
            <a:r>
              <a:rPr b="0" i="0" lang="en-US" sz="2400" u="none" cap="none" strike="noStrike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alumno registra</a:t>
            </a:r>
            <a:r>
              <a:rPr b="0" i="0" lang="en-US" sz="240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, la plataforma analiza y los datos apoyan la toma de decisiones."</a:t>
            </a:r>
            <a:endParaRPr/>
          </a:p>
        </p:txBody>
      </p:sp>
      <p:pic>
        <p:nvPicPr>
          <p:cNvPr descr="image.png" id="417" name="Google Shape;41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169789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870769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5717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72730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